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17" r:id="rId5"/>
    <p:sldId id="307" r:id="rId6"/>
    <p:sldId id="308" r:id="rId7"/>
    <p:sldId id="278" r:id="rId8"/>
    <p:sldId id="309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B7699C-05EB-4E63-A364-3A28070CAA2D}" type="doc">
      <dgm:prSet loTypeId="urn:microsoft.com/office/officeart/2008/layout/AccentedPicture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F9A1DDD-8F50-4950-B1AF-20D94296213F}">
      <dgm:prSet phldrT="[Text]" phldr="0"/>
      <dgm:spPr/>
      <dgm:t>
        <a:bodyPr/>
        <a:lstStyle/>
        <a:p>
          <a:r>
            <a:rPr lang="en-IN" dirty="0"/>
            <a:t> </a:t>
          </a:r>
        </a:p>
      </dgm:t>
    </dgm:pt>
    <dgm:pt modelId="{FE9CC03C-EED4-41AD-AC37-E99BDD046305}" type="parTrans" cxnId="{79C53023-069D-4E74-BFD7-11A8B87EA9AF}">
      <dgm:prSet/>
      <dgm:spPr/>
      <dgm:t>
        <a:bodyPr/>
        <a:lstStyle/>
        <a:p>
          <a:endParaRPr lang="en-IN"/>
        </a:p>
      </dgm:t>
    </dgm:pt>
    <dgm:pt modelId="{8F47282B-9A95-4C65-A745-436D0E8113F1}" type="sibTrans" cxnId="{79C53023-069D-4E74-BFD7-11A8B87EA9AF}">
      <dgm:prSet/>
      <dgm:spPr>
        <a:blipFill>
          <a:blip xmlns:r="http://schemas.openxmlformats.org/officeDocument/2006/relationships" r:embed="rId1"/>
          <a:srcRect/>
          <a:stretch>
            <a:fillRect l="-66000" r="-66000"/>
          </a:stretch>
        </a:blipFill>
      </dgm:spPr>
      <dgm:t>
        <a:bodyPr/>
        <a:lstStyle/>
        <a:p>
          <a:endParaRPr lang="en-IN"/>
        </a:p>
      </dgm:t>
    </dgm:pt>
    <dgm:pt modelId="{1179DE36-6FAA-4B44-8629-AF611FEEA7D1}" type="pres">
      <dgm:prSet presAssocID="{47B7699C-05EB-4E63-A364-3A28070CAA2D}" presName="Name0" presStyleCnt="0">
        <dgm:presLayoutVars>
          <dgm:dir/>
        </dgm:presLayoutVars>
      </dgm:prSet>
      <dgm:spPr/>
    </dgm:pt>
    <dgm:pt modelId="{0C852D6F-42D3-4237-83C6-D02789A11741}" type="pres">
      <dgm:prSet presAssocID="{8F47282B-9A95-4C65-A745-436D0E8113F1}" presName="picture_1" presStyleLbl="bgImgPlace1" presStyleIdx="0" presStyleCnt="1" custLinFactNeighborX="-7205" custLinFactNeighborY="-4255"/>
      <dgm:spPr/>
    </dgm:pt>
    <dgm:pt modelId="{8BA8760E-898A-47F4-ACE9-24EB66E7B3D9}" type="pres">
      <dgm:prSet presAssocID="{4F9A1DDD-8F50-4950-B1AF-20D94296213F}" presName="text_1" presStyleLbl="node1" presStyleIdx="0" presStyleCnt="0">
        <dgm:presLayoutVars>
          <dgm:bulletEnabled val="1"/>
        </dgm:presLayoutVars>
      </dgm:prSet>
      <dgm:spPr/>
    </dgm:pt>
    <dgm:pt modelId="{635CFB6C-1DC4-4A57-8C7B-5FB770B0BDDB}" type="pres">
      <dgm:prSet presAssocID="{47B7699C-05EB-4E63-A364-3A28070CAA2D}" presName="maxNode" presStyleCnt="0"/>
      <dgm:spPr/>
    </dgm:pt>
    <dgm:pt modelId="{CF544E90-3AA5-4DA1-9FFA-DAF595E3C310}" type="pres">
      <dgm:prSet presAssocID="{47B7699C-05EB-4E63-A364-3A28070CAA2D}" presName="Name33" presStyleCnt="0"/>
      <dgm:spPr/>
    </dgm:pt>
  </dgm:ptLst>
  <dgm:cxnLst>
    <dgm:cxn modelId="{79C53023-069D-4E74-BFD7-11A8B87EA9AF}" srcId="{47B7699C-05EB-4E63-A364-3A28070CAA2D}" destId="{4F9A1DDD-8F50-4950-B1AF-20D94296213F}" srcOrd="0" destOrd="0" parTransId="{FE9CC03C-EED4-41AD-AC37-E99BDD046305}" sibTransId="{8F47282B-9A95-4C65-A745-436D0E8113F1}"/>
    <dgm:cxn modelId="{076FD266-A292-421A-96B6-8989997307D7}" type="presOf" srcId="{8F47282B-9A95-4C65-A745-436D0E8113F1}" destId="{0C852D6F-42D3-4237-83C6-D02789A11741}" srcOrd="0" destOrd="0" presId="urn:microsoft.com/office/officeart/2008/layout/AccentedPicture"/>
    <dgm:cxn modelId="{F6FF71CB-1E0B-461C-805F-74F9AC27B8D3}" type="presOf" srcId="{47B7699C-05EB-4E63-A364-3A28070CAA2D}" destId="{1179DE36-6FAA-4B44-8629-AF611FEEA7D1}" srcOrd="0" destOrd="0" presId="urn:microsoft.com/office/officeart/2008/layout/AccentedPicture"/>
    <dgm:cxn modelId="{71E5E0EF-C915-459C-B23B-5539BDC3F72E}" type="presOf" srcId="{4F9A1DDD-8F50-4950-B1AF-20D94296213F}" destId="{8BA8760E-898A-47F4-ACE9-24EB66E7B3D9}" srcOrd="0" destOrd="0" presId="urn:microsoft.com/office/officeart/2008/layout/AccentedPicture"/>
    <dgm:cxn modelId="{B3C18B00-39E9-4611-9C1D-6E1BA604950F}" type="presParOf" srcId="{1179DE36-6FAA-4B44-8629-AF611FEEA7D1}" destId="{0C852D6F-42D3-4237-83C6-D02789A11741}" srcOrd="0" destOrd="0" presId="urn:microsoft.com/office/officeart/2008/layout/AccentedPicture"/>
    <dgm:cxn modelId="{BCDD3325-980E-4D5B-A61F-47232958FECA}" type="presParOf" srcId="{1179DE36-6FAA-4B44-8629-AF611FEEA7D1}" destId="{8BA8760E-898A-47F4-ACE9-24EB66E7B3D9}" srcOrd="1" destOrd="0" presId="urn:microsoft.com/office/officeart/2008/layout/AccentedPicture"/>
    <dgm:cxn modelId="{FA824244-5618-40D4-B5E3-8F1FE56F4931}" type="presParOf" srcId="{1179DE36-6FAA-4B44-8629-AF611FEEA7D1}" destId="{635CFB6C-1DC4-4A57-8C7B-5FB770B0BDDB}" srcOrd="2" destOrd="0" presId="urn:microsoft.com/office/officeart/2008/layout/AccentedPicture"/>
    <dgm:cxn modelId="{D4C3376F-8969-4ADA-8350-D0D5654A95E7}" type="presParOf" srcId="{635CFB6C-1DC4-4A57-8C7B-5FB770B0BDDB}" destId="{CF544E90-3AA5-4DA1-9FFA-DAF595E3C310}" srcOrd="0" destOrd="0" presId="urn:microsoft.com/office/officeart/2008/layout/AccentedPi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852D6F-42D3-4237-83C6-D02789A11741}">
      <dsp:nvSpPr>
        <dsp:cNvPr id="0" name=""/>
        <dsp:cNvSpPr/>
      </dsp:nvSpPr>
      <dsp:spPr>
        <a:xfrm>
          <a:off x="0" y="0"/>
          <a:ext cx="4656087" cy="5938887"/>
        </a:xfrm>
        <a:prstGeom prst="roundRect">
          <a:avLst/>
        </a:prstGeom>
        <a:blipFill>
          <a:blip xmlns:r="http://schemas.openxmlformats.org/officeDocument/2006/relationships" r:embed="rId1"/>
          <a:srcRect/>
          <a:stretch>
            <a:fillRect l="-66000" r="-6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A8760E-898A-47F4-ACE9-24EB66E7B3D9}">
      <dsp:nvSpPr>
        <dsp:cNvPr id="0" name=""/>
        <dsp:cNvSpPr/>
      </dsp:nvSpPr>
      <dsp:spPr>
        <a:xfrm>
          <a:off x="394009" y="2375554"/>
          <a:ext cx="3585187" cy="356333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0" tIns="165100" rIns="165100" bIns="165100" numCol="1" spcCol="1270" anchor="b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500" kern="1200" dirty="0"/>
            <a:t> </a:t>
          </a:r>
        </a:p>
      </dsp:txBody>
      <dsp:txXfrm>
        <a:off x="394009" y="2375554"/>
        <a:ext cx="3585187" cy="35633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ccentedPicture">
  <dgm:title val=""/>
  <dgm:desc val=""/>
  <dgm:catLst>
    <dgm:cat type="picture" pri="1000"/>
    <dgm:cat type="pictureconver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</dgm:varLst>
    <dgm:alg type="composite"/>
    <dgm:shape xmlns:r="http://schemas.openxmlformats.org/officeDocument/2006/relationships" r:blip="">
      <dgm:adjLst/>
    </dgm:shape>
    <dgm:choose name="Name1">
      <dgm:if name="Name2" axis="ch" ptType="node" func="cnt" op="lte" val="1">
        <dgm:constrLst>
          <dgm:constr type="h" for="ch" forName="picture_1" refType="h"/>
          <dgm:constr type="w" for="ch" forName="picture_1" refType="h" refFor="ch" refForName="picture_1" op="equ" fact="0.784"/>
          <dgm:constr type="l" for="ch" forName="picture_1"/>
          <dgm:constr type="t" for="ch" forName="picture_1"/>
          <dgm:constr type="w" for="ch" forName="text_1" refType="w" refFor="ch" refForName="picture_1" fact="0.77"/>
          <dgm:constr type="h" for="ch" forName="text_1" refType="h" refFor="ch" refForName="picture_1" fact="0.6"/>
          <dgm:constr type="l" for="ch" forName="text_1" refType="w" refFor="ch" refForName="picture_1" fact="0.04"/>
          <dgm:constr type="t" for="ch" forName="text_1" refType="h" refFor="ch" refForName="picture_1" fact="0.4"/>
        </dgm:constrLst>
      </dgm:if>
      <dgm:if name="Name3" axis="ch" ptType="node" func="cnt" op="lte" val="5">
        <dgm:choose name="Name4">
          <dgm:if name="Name5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6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if>
      <dgm:else name="Name7">
        <dgm:choose name="Name8">
          <dgm:if name="Name9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10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else>
    </dgm:choose>
    <dgm:forEach name="Name11" axis="ch" ptType="sibTrans" hideLastTrans="0" cnt="1">
      <dgm:layoutNode name="picture_1" styleLbl="bgImgPlace1">
        <dgm:alg type="sp"/>
        <dgm:shape xmlns:r="http://schemas.openxmlformats.org/officeDocument/2006/relationships" type="roundRect" r:blip="" blipPhldr="1">
          <dgm:adjLst/>
        </dgm:shape>
        <dgm:presOf axis="self"/>
      </dgm:layoutNode>
    </dgm:forEach>
    <dgm:forEach name="Name12" axis="ch" ptType="node" cnt="1">
      <dgm:layoutNode name="text_1" styleLbl="node1">
        <dgm:varLst>
          <dgm:bulletEnabled val="1"/>
        </dgm:varLst>
        <dgm:choose name="Name13">
          <dgm:if name="Name14" func="var" arg="dir" op="equ" val="norm">
            <dgm:alg type="tx">
              <dgm:param type="txAnchorVert" val="b"/>
              <dgm:param type="parTxLTRAlign" val="l"/>
              <dgm:param type="shpTxLTRAlignCh" val="l"/>
              <dgm:param type="parTxRTLAlign" val="l"/>
              <dgm:param type="shpTxRTLAlignCh" val="l"/>
            </dgm:alg>
          </dgm:if>
          <dgm:else name="Name15">
            <dgm:alg type="tx">
              <dgm:param type="txAnchorVert" val="b"/>
              <dgm:param type="parTxLTRAlign" val="r"/>
              <dgm:param type="shpTxLTRAlignCh" val="r"/>
              <dgm:param type="parTxRTLAlign" val="r"/>
              <dgm:param type="shpTxRTLAlignCh" val="r"/>
            </dgm:alg>
          </dgm:else>
        </dgm:choose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primFontSz" val="65"/>
          <dgm:constr type="lMarg" refType="primFontSz" fact="0.2"/>
          <dgm:constr type="rMarg" refType="primFontSz" fact="0.2"/>
          <dgm:constr type="tMarg" refType="primFontSz" fact="0.2"/>
          <dgm:constr type="bMarg" refType="primFontSz" fact="0.2"/>
        </dgm:constrLst>
        <dgm:ruleLst>
          <dgm:rule type="primFontSz" val="5" fact="NaN" max="NaN"/>
        </dgm:ruleLst>
      </dgm:layoutNode>
    </dgm:forEach>
    <dgm:choose name="Name16">
      <dgm:if name="Name17" axis="ch" ptType="node" func="cnt" op="gte" val="2">
        <dgm:layoutNode name="linV">
          <dgm:choose name="Name18">
            <dgm:if name="Name19" func="var" arg="dir" op="equ" val="norm">
              <dgm:alg type="lin">
                <dgm:param type="linDir" val="fromT"/>
                <dgm:param type="vertAlign" val="t"/>
                <dgm:param type="fallback" val="1D"/>
                <dgm:param type="horzAlign" val="l"/>
                <dgm:param type="nodeHorzAlign" val="l"/>
              </dgm:alg>
            </dgm:if>
            <dgm:else name="Name20">
              <dgm:alg type="lin">
                <dgm:param type="linDir" val="fromT"/>
                <dgm:param type="vertAlign" val="t"/>
                <dgm:param type="fallback" val="1D"/>
                <dgm:param type="horzAlign" val="r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constrLst>
            <dgm:constr type="w" for="ch" forName="spaceV" val="1"/>
            <dgm:constr type="w" for="ch" forName="pair" refType="w" op="equ"/>
            <dgm:constr type="w" for="des" forName="desText" op="equ"/>
            <dgm:constr type="primFontSz" for="des" forName="desText" op="equ" val="65"/>
          </dgm:constrLst>
          <dgm:forEach name="Name21" axis="ch" ptType="node" st="2">
            <dgm:layoutNode name="pair">
              <dgm:alg type="composite"/>
              <dgm:shape xmlns:r="http://schemas.openxmlformats.org/officeDocument/2006/relationships" r:blip="">
                <dgm:adjLst/>
              </dgm:shape>
              <dgm:choose name="Name22">
                <dgm:if name="Name23" func="var" arg="dir" op="equ" val="norm">
                  <dgm:constrLst>
                    <dgm:constr type="userC"/>
                    <dgm:constr type="l" for="ch" forName="spaceH"/>
                    <dgm:constr type="r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l" for="ch" forName="desTextWrapper" refType="r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if>
                <dgm:else name="Name24">
                  <dgm:constrLst>
                    <dgm:constr type="userC"/>
                    <dgm:constr type="r" for="ch" forName="spaceH" refType="w"/>
                    <dgm:constr type="l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r" for="ch" forName="desTextWrapper" refType="l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else>
              </dgm:choose>
              <dgm:layoutNode name="spaceH">
                <dgm:alg type="sp"/>
                <dgm:shape xmlns:r="http://schemas.openxmlformats.org/officeDocument/2006/relationships" type="rect" r:blip="" hideGeom="1">
                  <dgm:adjLst/>
                </dgm:shape>
                <dgm:presOf/>
              </dgm:layoutNode>
              <dgm:layoutNode name="desPictures" styleLbl="alignImgPlace1">
                <dgm:alg type="sp"/>
                <dgm:shape xmlns:r="http://schemas.openxmlformats.org/officeDocument/2006/relationships" type="ellipse" r:blip="" blipPhldr="1">
                  <dgm:adjLst/>
                </dgm:shape>
                <dgm:presOf/>
              </dgm:layoutNode>
              <dgm:layoutNode name="desTextWrapper">
                <dgm:choose name="Name25">
                  <dgm:if name="Name26" func="var" arg="dir" op="equ" val="norm">
                    <dgm:alg type="lin">
                      <dgm:param type="horzAlign" val="l"/>
                    </dgm:alg>
                  </dgm:if>
                  <dgm:else name="Name27">
                    <dgm:alg type="lin">
                      <dgm:param type="horzAlign" val="r"/>
                    </dgm:alg>
                  </dgm:else>
                </dgm:choose>
                <dgm:layoutNode name="desText" styleLbl="revTx">
                  <dgm:varLst>
                    <dgm:bulletEnabled val="1"/>
                  </dgm:varLst>
                  <dgm:choose name="Name28">
                    <dgm:if name="Name29" func="var" arg="dir" op="equ" val="norm">
                      <dgm:alg type="tx">
                        <dgm:param type="parTxLTRAlign" val="l"/>
                        <dgm:param type="shpTxLTRAlignCh" val="l"/>
                        <dgm:param type="parTxRTLAlign" val="r"/>
                        <dgm:param type="shpTxRTLAlignCh" val="r"/>
                      </dgm:alg>
                    </dgm:if>
                    <dgm:else name="Name30">
                      <dgm:alg type="tx">
                        <dgm:param type="parTxLTRAlign" val="r"/>
                        <dgm:param type="shpTxLTRAlignCh" val="r"/>
                        <dgm:param type="parTxRTLAlign" val="r"/>
                        <dgm:param type="shpTxRTLAlignCh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onstrLst>
                    <dgm:constr type="userW"/>
                    <dgm:constr type="w" refType="userW" fact="0.1"/>
                    <dgm:constr type="lMarg" refType="primFontSz" fact="0.2"/>
                    <dgm:constr type="rMarg" refType="primFontSz" fact="0.2"/>
                    <dgm:constr type="tMarg" refType="primFontSz" fact="0.1"/>
                    <dgm:constr type="bMarg" refType="primFontSz" fact="0.1"/>
                  </dgm:constrLst>
                  <dgm:ruleLst>
                    <dgm:rule type="w" val="NaN" fact="1" max="NaN"/>
                    <dgm:rule type="primFontSz" val="5" fact="NaN" max="NaN"/>
                  </dgm:ruleLst>
                </dgm:layoutNode>
              </dgm:layoutNode>
            </dgm:layoutNode>
            <dgm:forEach name="Name31" axis="followSib" ptType="sibTrans" cnt="1">
              <dgm:layoutNode name="spaceV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forEach>
          </dgm:forEach>
        </dgm:layoutNode>
      </dgm:if>
      <dgm:else name="Name32"/>
    </dgm:choose>
    <dgm:layoutNode name="maxNode">
      <dgm:alg type="lin"/>
      <dgm:shape xmlns:r="http://schemas.openxmlformats.org/officeDocument/2006/relationships" r:blip="">
        <dgm:adjLst/>
      </dgm:shape>
      <dgm:presOf/>
      <dgm:constrLst>
        <dgm:constr type="w" for="ch"/>
        <dgm:constr type="h" for="ch"/>
      </dgm:constrLst>
      <dgm:layoutNode name="Name33">
        <dgm:alg type="sp"/>
        <dgm:shape xmlns:r="http://schemas.openxmlformats.org/officeDocument/2006/relationships" r:blip="">
          <dgm:adjLst/>
        </dgm:shape>
        <dgm:presOf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12/27/2025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12/27/2025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5004" y="367645"/>
            <a:ext cx="4268818" cy="2837469"/>
          </a:xfrm>
        </p:spPr>
        <p:txBody>
          <a:bodyPr anchor="ctr"/>
          <a:lstStyle/>
          <a:p>
            <a:r>
              <a:rPr lang="en-US" sz="3600" b="1" dirty="0">
                <a:latin typeface="Aptos" panose="020B0004020202020204" pitchFamily="34" charset="0"/>
              </a:rPr>
              <a:t>PYTHON DATA ANALYSIS </a:t>
            </a:r>
            <a:br>
              <a:rPr lang="en-US" sz="3600" b="1" dirty="0">
                <a:latin typeface="Aptos" panose="020B0004020202020204" pitchFamily="34" charset="0"/>
              </a:rPr>
            </a:br>
            <a:r>
              <a:rPr lang="en-US" sz="3600" b="1" dirty="0">
                <a:latin typeface="Aptos" panose="020B0004020202020204" pitchFamily="34" charset="0"/>
              </a:rPr>
              <a:t>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796CC-CAA6-F3B7-CEA1-E2FA2D210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72E84C-79AB-56E8-4D59-06BCA67C1126}"/>
              </a:ext>
            </a:extLst>
          </p:cNvPr>
          <p:cNvSpPr txBox="1"/>
          <p:nvPr/>
        </p:nvSpPr>
        <p:spPr>
          <a:xfrm>
            <a:off x="8738648" y="5552387"/>
            <a:ext cx="27054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Name: Bhardwaj Joshi </a:t>
            </a:r>
          </a:p>
          <a:p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Course: B.Sc. CS-IT</a:t>
            </a:r>
          </a:p>
          <a:p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Data: 27.12.2025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789" y="-614112"/>
            <a:ext cx="4190999" cy="3073138"/>
          </a:xfrm>
        </p:spPr>
        <p:txBody>
          <a:bodyPr/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Dataset Overview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4604953"/>
              </p:ext>
            </p:extLst>
          </p:nvPr>
        </p:nvGraphicFramePr>
        <p:xfrm>
          <a:off x="1659118" y="1237069"/>
          <a:ext cx="2177591" cy="2651760"/>
        </p:xfrm>
        <a:graphic>
          <a:graphicData uri="http://schemas.openxmlformats.org/drawingml/2006/table">
            <a:tbl>
              <a:tblPr firstRow="1" bandRow="1"/>
              <a:tblGrid>
                <a:gridCol w="2177591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39428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  <a:p>
                      <a:pPr algn="r"/>
                      <a:endParaRPr lang="en-US" sz="2400" b="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219045">
                <a:tc>
                  <a:txBody>
                    <a:bodyPr/>
                    <a:lstStyle/>
                    <a:p>
                      <a:pPr algn="r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219045">
                <a:tc>
                  <a:txBody>
                    <a:bodyPr/>
                    <a:lstStyle/>
                    <a:p>
                      <a:pPr algn="r"/>
                      <a:endParaRPr lang="en-US" sz="2400" b="0" dirty="0"/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21904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21904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7068B1F-484F-D262-305D-45A33B4FC1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8829064"/>
              </p:ext>
            </p:extLst>
          </p:nvPr>
        </p:nvGraphicFramePr>
        <p:xfrm>
          <a:off x="744718" y="292231"/>
          <a:ext cx="5071620" cy="5938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F3AA79B-FA37-937B-77C1-35546DA5B571}"/>
              </a:ext>
            </a:extLst>
          </p:cNvPr>
          <p:cNvSpPr txBox="1"/>
          <p:nvPr/>
        </p:nvSpPr>
        <p:spPr>
          <a:xfrm>
            <a:off x="7028467" y="1842115"/>
            <a:ext cx="493964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ptos" panose="020B0004020202020204" pitchFamily="34" charset="0"/>
              </a:rPr>
              <a:t>Number of Records:</a:t>
            </a:r>
          </a:p>
          <a:p>
            <a:r>
              <a:rPr lang="en-IN" sz="2000" dirty="0">
                <a:latin typeface="Aptos" panose="020B0004020202020204" pitchFamily="34" charset="0"/>
              </a:rPr>
              <a:t>	20 students </a:t>
            </a:r>
          </a:p>
          <a:p>
            <a:r>
              <a:rPr lang="en-IN" sz="2000" dirty="0">
                <a:latin typeface="Aptos" panose="020B0004020202020204" pitchFamily="34" charset="0"/>
              </a:rPr>
              <a:t>Columns Used:</a:t>
            </a:r>
          </a:p>
          <a:p>
            <a:r>
              <a:rPr lang="en-IN" sz="2000" dirty="0">
                <a:latin typeface="Aptos" panose="020B0004020202020204" pitchFamily="34" charset="0"/>
              </a:rPr>
              <a:t>	StudentID</a:t>
            </a:r>
          </a:p>
          <a:p>
            <a:r>
              <a:rPr lang="en-IN" sz="2000" dirty="0">
                <a:latin typeface="Aptos" panose="020B0004020202020204" pitchFamily="34" charset="0"/>
              </a:rPr>
              <a:t>	Student Name</a:t>
            </a:r>
          </a:p>
          <a:p>
            <a:r>
              <a:rPr lang="en-IN" sz="2000" dirty="0">
                <a:latin typeface="Aptos" panose="020B0004020202020204" pitchFamily="34" charset="0"/>
              </a:rPr>
              <a:t>	Age</a:t>
            </a:r>
          </a:p>
          <a:p>
            <a:r>
              <a:rPr lang="en-IN" sz="2000" dirty="0">
                <a:latin typeface="Aptos" panose="020B0004020202020204" pitchFamily="34" charset="0"/>
              </a:rPr>
              <a:t>	Gender</a:t>
            </a:r>
          </a:p>
          <a:p>
            <a:r>
              <a:rPr lang="en-IN" sz="2000" dirty="0">
                <a:latin typeface="Aptos" panose="020B0004020202020204" pitchFamily="34" charset="0"/>
              </a:rPr>
              <a:t>	Course</a:t>
            </a:r>
          </a:p>
          <a:p>
            <a:r>
              <a:rPr lang="en-IN" sz="2000" dirty="0">
                <a:latin typeface="Aptos" panose="020B0004020202020204" pitchFamily="34" charset="0"/>
              </a:rPr>
              <a:t>	Marks</a:t>
            </a:r>
          </a:p>
          <a:p>
            <a:r>
              <a:rPr lang="en-IN" sz="2000" dirty="0">
                <a:latin typeface="Aptos" panose="020B0004020202020204" pitchFamily="34" charset="0"/>
              </a:rPr>
              <a:t>Purpose of Dataset:</a:t>
            </a:r>
          </a:p>
          <a:p>
            <a:r>
              <a:rPr lang="en-IN" sz="2000" dirty="0">
                <a:latin typeface="Aptos" panose="020B0004020202020204" pitchFamily="34" charset="0"/>
              </a:rPr>
              <a:t>	To analyze student performance 	across different courses using 	python </a:t>
            </a: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24" y="710507"/>
            <a:ext cx="5641848" cy="867266"/>
          </a:xfrm>
        </p:spPr>
        <p:txBody>
          <a:bodyPr/>
          <a:lstStyle/>
          <a:p>
            <a:r>
              <a:rPr lang="en-US" sz="4000" dirty="0">
                <a:latin typeface="Aptos" panose="020B0004020202020204" pitchFamily="34" charset="0"/>
              </a:rPr>
              <a:t>Data Cleaning</a:t>
            </a:r>
          </a:p>
        </p:txBody>
      </p:sp>
      <p:pic>
        <p:nvPicPr>
          <p:cNvPr id="8" name="Picture Placeholder 21" descr="Person in black skirt and white shirt holding some dandelions">
            <a:extLst>
              <a:ext uri="{FF2B5EF4-FFF2-40B4-BE49-F238E27FC236}">
                <a16:creationId xmlns:a16="http://schemas.microsoft.com/office/drawing/2014/main" id="{FFD2BD9F-962D-9BA5-14BE-C9CD52FEF9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" b="18"/>
          <a:stretch/>
        </p:blipFill>
        <p:spPr>
          <a:xfrm>
            <a:off x="7401941" y="0"/>
            <a:ext cx="4790059" cy="6587067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8000E8-7DC9-2BD8-1C04-55040FF715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260"/>
          <a:stretch>
            <a:fillRect/>
          </a:stretch>
        </p:blipFill>
        <p:spPr>
          <a:xfrm>
            <a:off x="6096000" y="0"/>
            <a:ext cx="6096000" cy="35893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B46609-9E04-FF93-43A5-18C8977DAD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393"/>
          <a:stretch>
            <a:fillRect/>
          </a:stretch>
        </p:blipFill>
        <p:spPr>
          <a:xfrm>
            <a:off x="6096000" y="3589331"/>
            <a:ext cx="6096000" cy="32686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7E04EF-8703-DBA8-0068-69C3550F88F6}"/>
              </a:ext>
            </a:extLst>
          </p:cNvPr>
          <p:cNvSpPr txBox="1"/>
          <p:nvPr/>
        </p:nvSpPr>
        <p:spPr>
          <a:xfrm>
            <a:off x="254524" y="2053566"/>
            <a:ext cx="564184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ptos" panose="020B0004020202020204" pitchFamily="34" charset="0"/>
              </a:rPr>
              <a:t>Missing Values Found:</a:t>
            </a:r>
          </a:p>
          <a:p>
            <a:r>
              <a:rPr lang="en-IN" sz="2000" dirty="0">
                <a:latin typeface="Aptos" panose="020B0004020202020204" pitchFamily="34" charset="0"/>
              </a:rPr>
              <a:t>	No missing values detected in the 	dataset </a:t>
            </a:r>
          </a:p>
          <a:p>
            <a:endParaRPr lang="en-IN" sz="2000" dirty="0">
              <a:latin typeface="Aptos" panose="020B0004020202020204" pitchFamily="34" charset="0"/>
            </a:endParaRPr>
          </a:p>
          <a:p>
            <a:r>
              <a:rPr lang="en-IN" sz="2000" dirty="0">
                <a:latin typeface="Aptos" panose="020B0004020202020204" pitchFamily="34" charset="0"/>
              </a:rPr>
              <a:t>Data Cleaning Steps:</a:t>
            </a:r>
          </a:p>
          <a:p>
            <a:r>
              <a:rPr lang="en-IN" sz="2000" dirty="0">
                <a:latin typeface="Aptos" panose="020B0004020202020204" pitchFamily="34" charset="0"/>
              </a:rPr>
              <a:t>	Dataset was checked using pandas 	functions.</a:t>
            </a:r>
          </a:p>
          <a:p>
            <a:endParaRPr lang="en-IN" sz="2000" dirty="0">
              <a:latin typeface="Aptos" panose="020B0004020202020204" pitchFamily="34" charset="0"/>
            </a:endParaRPr>
          </a:p>
          <a:p>
            <a:r>
              <a:rPr lang="en-IN" sz="2000" dirty="0">
                <a:latin typeface="Aptos" panose="020B0004020202020204" pitchFamily="34" charset="0"/>
              </a:rPr>
              <a:t>	No rows or columns were removed as 	data was complete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205" y="593886"/>
            <a:ext cx="5449824" cy="1131216"/>
          </a:xfrm>
        </p:spPr>
        <p:txBody>
          <a:bodyPr anchor="b"/>
          <a:lstStyle/>
          <a:p>
            <a:r>
              <a:rPr lang="en-US" sz="4000" dirty="0">
                <a:latin typeface="Aptos" panose="020B0004020202020204" pitchFamily="34" charset="0"/>
              </a:rPr>
              <a:t>Analysis insights</a:t>
            </a:r>
          </a:p>
        </p:txBody>
      </p:sp>
      <p:pic>
        <p:nvPicPr>
          <p:cNvPr id="4" name="Picture Placeholder 3" descr="A person holding a plant">
            <a:extLst>
              <a:ext uri="{FF2B5EF4-FFF2-40B4-BE49-F238E27FC236}">
                <a16:creationId xmlns:a16="http://schemas.microsoft.com/office/drawing/2014/main" id="{0DEBEDD0-2C97-CD36-23CF-99F08280682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24497" r="24497"/>
          <a:stretch/>
        </p:blipFill>
        <p:spPr>
          <a:xfrm>
            <a:off x="-1" y="261780"/>
            <a:ext cx="5046134" cy="6596220"/>
          </a:xfrm>
          <a:solidFill>
            <a:schemeClr val="tx1"/>
          </a:solidFill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12364" y="4681728"/>
            <a:ext cx="2658358" cy="128016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D138B2-0E3B-7724-80B1-9E96EB098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525073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B4433E5-1542-46E2-9347-EFCF6F4910B9}"/>
              </a:ext>
            </a:extLst>
          </p:cNvPr>
          <p:cNvSpPr txBox="1"/>
          <p:nvPr/>
        </p:nvSpPr>
        <p:spPr>
          <a:xfrm>
            <a:off x="5827204" y="1951349"/>
            <a:ext cx="54498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ptos" panose="020B0004020202020204" pitchFamily="34" charset="0"/>
              </a:rPr>
              <a:t>Average Marks by Course:</a:t>
            </a:r>
          </a:p>
          <a:p>
            <a:endParaRPr lang="en-IN" sz="2000" dirty="0">
              <a:latin typeface="Aptos" panose="020B0004020202020204" pitchFamily="34" charset="0"/>
            </a:endParaRPr>
          </a:p>
          <a:p>
            <a:r>
              <a:rPr lang="en-IN" sz="2000" dirty="0">
                <a:latin typeface="Aptos" panose="020B0004020202020204" pitchFamily="34" charset="0"/>
              </a:rPr>
              <a:t>Python: High overall performance.</a:t>
            </a:r>
          </a:p>
          <a:p>
            <a:r>
              <a:rPr lang="en-IN" sz="2000" dirty="0">
                <a:latin typeface="Aptos" panose="020B0004020202020204" pitchFamily="34" charset="0"/>
              </a:rPr>
              <a:t>Data Science: Consistent scores.</a:t>
            </a:r>
          </a:p>
          <a:p>
            <a:r>
              <a:rPr lang="en-IN" sz="2000" dirty="0">
                <a:latin typeface="Aptos" panose="020B0004020202020204" pitchFamily="34" charset="0"/>
              </a:rPr>
              <a:t>Web Development: Moderate Performance.</a:t>
            </a:r>
          </a:p>
          <a:p>
            <a:r>
              <a:rPr lang="en-IN" sz="2000" dirty="0">
                <a:latin typeface="Aptos" panose="020B0004020202020204" pitchFamily="34" charset="0"/>
              </a:rPr>
              <a:t>Machine Learning: Highest average marks.</a:t>
            </a:r>
          </a:p>
          <a:p>
            <a:endParaRPr lang="en-IN" sz="2000" dirty="0">
              <a:latin typeface="Aptos" panose="020B0004020202020204" pitchFamily="34" charset="0"/>
            </a:endParaRPr>
          </a:p>
          <a:p>
            <a:r>
              <a:rPr lang="en-IN" sz="2000" dirty="0">
                <a:latin typeface="Aptos" panose="020B0004020202020204" pitchFamily="34" charset="0"/>
              </a:rPr>
              <a:t>High-Scoring Students: </a:t>
            </a:r>
          </a:p>
          <a:p>
            <a:r>
              <a:rPr lang="en-IN" sz="2000" dirty="0">
                <a:latin typeface="Aptos" panose="020B0004020202020204" pitchFamily="34" charset="0"/>
              </a:rPr>
              <a:t>	Students scoring above 85 marks were </a:t>
            </a:r>
          </a:p>
          <a:p>
            <a:r>
              <a:rPr lang="en-IN" sz="2000" dirty="0">
                <a:latin typeface="Aptos" panose="020B0004020202020204" pitchFamily="34" charset="0"/>
              </a:rPr>
              <a:t>	identified </a:t>
            </a:r>
          </a:p>
          <a:p>
            <a:r>
              <a:rPr lang="en-IN" sz="2000" dirty="0">
                <a:latin typeface="Aptos" panose="020B0004020202020204" pitchFamily="34" charset="0"/>
              </a:rPr>
              <a:t>	Majority belonged to Machine Learning and Python courses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3063711" cy="914400"/>
          </a:xfrm>
        </p:spPr>
        <p:txBody>
          <a:bodyPr/>
          <a:lstStyle/>
          <a:p>
            <a:r>
              <a:rPr lang="en-US" sz="4000" dirty="0">
                <a:latin typeface="Aptos" panose="020B0004020202020204" pitchFamily="34" charset="0"/>
              </a:rPr>
              <a:t>Visualization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6136849" cy="3356576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Bar Chart: Shows student-wise marks distribution</a:t>
            </a:r>
          </a:p>
          <a:p>
            <a:r>
              <a:rPr lang="en-US" dirty="0">
                <a:latin typeface="Aptos" panose="020B0004020202020204" pitchFamily="34" charset="0"/>
              </a:rPr>
              <a:t>Histogram: Displays overall marks distribution 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Visualization help understand : </a:t>
            </a: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		Performance trends</a:t>
            </a: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		Score Frequency and Spread </a:t>
            </a:r>
          </a:p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0BD0E-148B-4A8D-342E-7DC39E54B3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0" t="5523" r="7120" b="6751"/>
          <a:stretch>
            <a:fillRect/>
          </a:stretch>
        </p:blipFill>
        <p:spPr>
          <a:xfrm>
            <a:off x="6797753" y="0"/>
            <a:ext cx="5379321" cy="32239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B862F2-49BE-0BA3-294F-40CD9345C2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768" t="5216" r="7095" b="5143"/>
          <a:stretch>
            <a:fillRect/>
          </a:stretch>
        </p:blipFill>
        <p:spPr>
          <a:xfrm>
            <a:off x="6797753" y="3361759"/>
            <a:ext cx="5394248" cy="349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379" y="282804"/>
            <a:ext cx="7155039" cy="952107"/>
          </a:xfrm>
        </p:spPr>
        <p:txBody>
          <a:bodyPr anchor="b"/>
          <a:lstStyle/>
          <a:p>
            <a:r>
              <a:rPr lang="en-US" sz="4000" dirty="0">
                <a:latin typeface="Aptos" panose="020B0004020202020204" pitchFamily="34" charset="0"/>
              </a:rPr>
              <a:t>Conclusion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8668" y="3825875"/>
            <a:ext cx="2545237" cy="2644775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28C21F-D01F-10DD-04C5-1CEE06773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40924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CA53ED-16AE-41F6-D41E-870CA04A427F}"/>
              </a:ext>
            </a:extLst>
          </p:cNvPr>
          <p:cNvSpPr txBox="1"/>
          <p:nvPr/>
        </p:nvSpPr>
        <p:spPr>
          <a:xfrm>
            <a:off x="6975882" y="1591723"/>
            <a:ext cx="484532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ptos" panose="020B0004020202020204" pitchFamily="34" charset="0"/>
              </a:rPr>
              <a:t>Key Insights:</a:t>
            </a:r>
          </a:p>
          <a:p>
            <a:r>
              <a:rPr lang="en-IN" sz="2000" dirty="0">
                <a:latin typeface="Aptos" panose="020B0004020202020204" pitchFamily="34" charset="0"/>
              </a:rPr>
              <a:t>	Machine Learning students 	performed the best on average. </a:t>
            </a:r>
          </a:p>
          <a:p>
            <a:endParaRPr lang="en-IN" sz="2000" dirty="0">
              <a:latin typeface="Aptos" panose="020B0004020202020204" pitchFamily="34" charset="0"/>
            </a:endParaRPr>
          </a:p>
          <a:p>
            <a:r>
              <a:rPr lang="en-IN" sz="2000" dirty="0">
                <a:latin typeface="Aptos" panose="020B0004020202020204" pitchFamily="34" charset="0"/>
              </a:rPr>
              <a:t>	Most Students scored between </a:t>
            </a:r>
          </a:p>
          <a:p>
            <a:r>
              <a:rPr lang="en-IN" sz="2000" dirty="0">
                <a:latin typeface="Aptos" panose="020B0004020202020204" pitchFamily="34" charset="0"/>
              </a:rPr>
              <a:t>	75 and 90 Marks.</a:t>
            </a:r>
          </a:p>
          <a:p>
            <a:endParaRPr lang="en-IN" sz="2000" dirty="0">
              <a:latin typeface="Aptos" panose="020B0004020202020204" pitchFamily="34" charset="0"/>
            </a:endParaRPr>
          </a:p>
          <a:p>
            <a:r>
              <a:rPr lang="en-IN" sz="2000" dirty="0">
                <a:latin typeface="Aptos" panose="020B0004020202020204" pitchFamily="34" charset="0"/>
              </a:rPr>
              <a:t>Learning Outcome:</a:t>
            </a:r>
          </a:p>
          <a:p>
            <a:r>
              <a:rPr lang="en-IN" sz="2000" dirty="0">
                <a:latin typeface="Aptos" panose="020B0004020202020204" pitchFamily="34" charset="0"/>
              </a:rPr>
              <a:t>	Learned how to load, clean, 	analyze, and visualize data </a:t>
            </a:r>
          </a:p>
          <a:p>
            <a:r>
              <a:rPr lang="en-IN" sz="2000" dirty="0">
                <a:latin typeface="Aptos" panose="020B0004020202020204" pitchFamily="34" charset="0"/>
              </a:rPr>
              <a:t>	using python.</a:t>
            </a:r>
          </a:p>
          <a:p>
            <a:r>
              <a:rPr lang="en-IN" sz="2000" dirty="0">
                <a:latin typeface="Aptos" panose="020B0004020202020204" pitchFamily="34" charset="0"/>
              </a:rPr>
              <a:t>	</a:t>
            </a:r>
          </a:p>
          <a:p>
            <a:r>
              <a:rPr lang="en-IN" sz="2000" dirty="0">
                <a:latin typeface="Aptos" panose="020B0004020202020204" pitchFamily="34" charset="0"/>
              </a:rPr>
              <a:t>	Gained hand-on experience with</a:t>
            </a:r>
          </a:p>
          <a:p>
            <a:r>
              <a:rPr lang="en-IN" sz="2000" dirty="0">
                <a:latin typeface="Aptos" panose="020B0004020202020204" pitchFamily="34" charset="0"/>
              </a:rPr>
              <a:t>	pandas and matplotlib.  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{01D72453-4B8A-4066-82B3-1B85D81AA053}tf11964407_win32</Template>
  <TotalTime>69</TotalTime>
  <Words>250</Words>
  <Application>Microsoft Office PowerPoint</Application>
  <PresentationFormat>Widescreen</PresentationFormat>
  <Paragraphs>65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Courier New</vt:lpstr>
      <vt:lpstr>Gill Sans Nova Light</vt:lpstr>
      <vt:lpstr>Sagona Book</vt:lpstr>
      <vt:lpstr>Custom</vt:lpstr>
      <vt:lpstr>PYTHON DATA ANALYSIS  REPORT</vt:lpstr>
      <vt:lpstr>Dataset Overview</vt:lpstr>
      <vt:lpstr>Data Cleaning</vt:lpstr>
      <vt:lpstr>Analysis insights</vt:lpstr>
      <vt:lpstr>Visualization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Ajwani Vanshika</dc:creator>
  <cp:lastModifiedBy>Ajwani Vanshika</cp:lastModifiedBy>
  <cp:revision>1</cp:revision>
  <dcterms:created xsi:type="dcterms:W3CDTF">2025-12-26T19:57:39Z</dcterms:created>
  <dcterms:modified xsi:type="dcterms:W3CDTF">2025-12-26T21:06:58Z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